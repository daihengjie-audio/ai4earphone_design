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0" y="1645920"/>
            <a:ext cx="15544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2026.08.13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  <a:latin typeface="Microsoft YaHei"/>
              </a:rPr>
              <a:t>AI 加速耳机设计及打样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Microsoft YaHei"/>
              </a:rPr>
              <a:t>从概念到样机的全链路 AI 赋能方案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3840480"/>
            <a:ext cx="11887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</a:rPr>
              <a:t>小型移动设备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3840480"/>
            <a:ext cx="11887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</a:rPr>
              <a:t>声学设计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840480"/>
            <a:ext cx="11887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</a:rPr>
              <a:t>生成式工程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840480"/>
            <a:ext cx="11887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</a:rPr>
              <a:t>智能闭环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754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Microsoft YaHe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394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设计环节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754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394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落地阶段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754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Microsoft YaHei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394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天试点周期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核心结论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188720"/>
          </a:xfrm>
          <a:prstGeom prst="roundRect">
            <a:avLst/>
          </a:prstGeom>
          <a:solidFill>
            <a:srgbClr val="152035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60A5FA"/>
                </a:solidFill>
                <a:latin typeface="Microsoft YaHei"/>
              </a:rPr>
              <a:t>⚡ 最可靠的方式</a:t>
            </a:r>
          </a:p>
          <a:p>
            <a:r>
              <a:rPr sz="1300">
                <a:solidFill>
                  <a:srgbClr val="F1F5F9"/>
                </a:solidFill>
                <a:latin typeface="Microsoft YaHei"/>
              </a:rPr>
              <a:t>不是「一句话自动生成量产产品」，而是把 AI 嵌入现有 CAD、CAE、声学仿真和测试流程，减少三类重复劳动。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56692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🎨 快速扩展方案</a:t>
            </a:r>
          </a:p>
          <a:p>
            <a:r>
              <a:rPr sz="1100">
                <a:solidFill>
                  <a:srgbClr val="94A3B8"/>
                </a:solidFill>
                <a:latin typeface="Microsoft YaHei"/>
              </a:rPr>
              <a:t>从需求、草图或参考图生成多组外形方向，再由工业设计师筛选和重建工程曲面。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743200"/>
            <a:ext cx="56692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🧠 减少昂贵仿真</a:t>
            </a:r>
          </a:p>
          <a:p>
            <a:r>
              <a:rPr sz="1100">
                <a:solidFill>
                  <a:srgbClr val="94A3B8"/>
                </a:solidFill>
                <a:latin typeface="Microsoft YaHei"/>
              </a:rPr>
              <a:t>先用高精度仿真和实测数据训练代理模型，再用代理模型快速预测大量新方案。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56692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⚖️ 自动多目标权衡</a:t>
            </a:r>
          </a:p>
          <a:p>
            <a:r>
              <a:rPr sz="1100">
                <a:solidFill>
                  <a:srgbClr val="94A3B8"/>
                </a:solidFill>
                <a:latin typeface="Microsoft YaHei"/>
              </a:rPr>
              <a:t>同时优化重量、强度、声学、漏音、舒适度、功耗、温升和可制造性，输出 Pareto 方案集。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八大设计环节成熟度总览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4A3B8"/>
                </a:solidFill>
                <a:latin typeface="Microsoft YaHei"/>
              </a:rPr>
              <a:t>设计环节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097280"/>
            <a:ext cx="4572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4A3B8"/>
                </a:solidFill>
                <a:latin typeface="Microsoft YaHei"/>
              </a:rPr>
              <a:t>典型输出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1097280"/>
            <a:ext cx="25603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4A3B8"/>
                </a:solidFill>
                <a:latin typeface="Microsoft YaHei"/>
              </a:rPr>
              <a:t>成熟度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外形与 CMF 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63040"/>
            <a:ext cx="45720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</a:rPr>
              <a:t>概念图、形态族、评审图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536192"/>
            <a:ext cx="2011680" cy="310896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0A5FA"/>
                </a:solidFill>
                <a:latin typeface="Microsoft YaHei"/>
              </a:rPr>
              <a:t>概念可用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4114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工程 CAD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965960"/>
            <a:ext cx="45720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</a:rPr>
              <a:t>可编辑 CAD 变体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039112"/>
            <a:ext cx="2011680" cy="310896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Microsoft YaHei"/>
              </a:rPr>
              <a:t>试点中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结构轻量化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468880"/>
            <a:ext cx="45720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</a:rPr>
              <a:t>轻量化结构 + 性能排序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542032"/>
            <a:ext cx="2011680" cy="310896"/>
          </a:xfrm>
          <a:prstGeom prst="roundRect">
            <a:avLst/>
          </a:prstGeom>
          <a:solidFill>
            <a:srgbClr val="22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ADE80"/>
                </a:solidFill>
                <a:latin typeface="Microsoft YaHei"/>
              </a:rPr>
              <a:t>已可用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4114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声学设计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971800"/>
            <a:ext cx="45720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</a:rPr>
              <a:t>频响预测、候选几何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3044952"/>
            <a:ext cx="2011680" cy="310896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Microsoft YaHei"/>
              </a:rPr>
              <a:t>可试点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多物理场验证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474720"/>
            <a:ext cx="45720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</a:rPr>
              <a:t>应力、位移、温升预测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547872"/>
            <a:ext cx="2011680" cy="310896"/>
          </a:xfrm>
          <a:prstGeom prst="roundRect">
            <a:avLst/>
          </a:prstGeom>
          <a:solidFill>
            <a:srgbClr val="22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ADE80"/>
                </a:solidFill>
                <a:latin typeface="Microsoft YaHei"/>
              </a:rPr>
              <a:t>已有商用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4114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人体工学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977639"/>
            <a:ext cx="45720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</a:rPr>
              <a:t>尺寸分档、压力分布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050791"/>
            <a:ext cx="2011680" cy="310896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Microsoft YaHei"/>
              </a:rPr>
              <a:t>试点中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4114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DFM/DFA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480560"/>
            <a:ext cx="45720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</a:rPr>
              <a:t>风险清单、可制造方案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553712"/>
            <a:ext cx="2011680" cy="310896"/>
          </a:xfrm>
          <a:prstGeom prst="roundRect">
            <a:avLst/>
          </a:prstGeom>
          <a:solidFill>
            <a:srgbClr val="22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ADE80"/>
                </a:solidFill>
                <a:latin typeface="Microsoft YaHei"/>
              </a:rPr>
              <a:t>已可用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4114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试验闭环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983480"/>
            <a:ext cx="45720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</a:rPr>
              <a:t>更新模型、下一轮 DOE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5056632"/>
            <a:ext cx="2011680" cy="310896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Microsoft YaHei"/>
              </a:rPr>
              <a:t>高价值试点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● 已可用    ● 可试点    ● 概念可用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274320"/>
            <a:ext cx="2103120" cy="320040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0A5FA"/>
                </a:solidFill>
                <a:latin typeface="Microsoft YaHei"/>
              </a:rPr>
              <a:t>概念可用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01 外形与 CMF 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✅ AI 适合做的事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✓ 根据目标人群、品牌语言生成几十组外形方向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✓ 在相同器件包络下探索镜腿截面、转轴体量、音口视觉处理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✓ 草图快速转产品效果图，供内部评审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✓ CMF 快速迭代：颜色、透明度、涂层、纹理方向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❌ 不应直接交给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✕ 铰链运动、装配间隙、壁厚、卡扣、防水结构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✕ 光学中心、声学路径、天线净空、散热路径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✕ 从漂亮图片直接判断舒适度、强度或量产可行性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4864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0A5FA"/>
                </a:solidFill>
                <a:latin typeface="Microsoft YaHei"/>
              </a:rPr>
              <a:t>Vizcom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草图+提示词渲染、颜色保持/迁移、材质增强、2D→3D 探索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适合镜框/镜腿/耳机壳体概念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⚠️ 是早期概念与传统 CAD 之间的桥梁，不输出量产工程结论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4864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0A5FA"/>
                </a:solidFill>
                <a:latin typeface="Microsoft YaHei"/>
              </a:rPr>
              <a:t>Adobe Firefly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文生图、参考图控制、Generative Fill、与 PS/AI 联动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适合情绪板、CMF、产品场景图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⚠️ 仅限视觉概念，不生成工程几何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247120" cy="731520"/>
          </a:xfrm>
          <a:prstGeom prst="roundRect">
            <a:avLst/>
          </a:prstGeom>
          <a:solidFill>
            <a:srgbClr val="1A3555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1F5F9"/>
                </a:solidFill>
                <a:latin typeface="Microsoft YaHei"/>
              </a:rPr>
              <a:t>定位：概念扩展器和评审加速器。生成图选中后，仍需在 Alias/Rhino/Creo/Fusion 等工程环境中重建。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274320"/>
            <a:ext cx="2103120" cy="320040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Microsoft YaHei"/>
              </a:rPr>
              <a:t>试点中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02 工程 CAD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技术概念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68580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Sketch2CAD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草图动作映射为 CAD 操作，快速建立 3D 对象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303520" cy="68580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Text-to-CAD / 程序 CAD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自然语言生成参数化 CAD 程序或 B-Rep，允许继续编辑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5303520" cy="68580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参数草图自动补全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从大规模参数草图中学习重复设计模式，自动补全孔、槽、对称、阵列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商用产品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Zoo Design Studio / Text-to-CAD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文本生成可编辑 B-Rep 与 KCL 参数代码；多数提示 60 秒内完成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适合测试治具、简单支架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⚠️ 不建议直接负责镜腿铰链、软硬复合件和完整整机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51760"/>
            <a:ext cx="54864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Autodesk Fusion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参数化建模、脚本/API、自动化变体、生成式设计、制造与仿真工作区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适合镜腿骨架、支架、壳体、治具和 DOE 变体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⚠️ 复杂消费电子装配仍要严格管理参数历史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4864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PTC Creo GTO/GDX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载荷/约束/材料/制造工艺驱动的生成式方案，集成 Creo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适合已有 Creo/Windchill 企业的镜腿骨架、支架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⚠️ 不是自然语言整机生成器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274320"/>
            <a:ext cx="2103120" cy="320040"/>
          </a:xfrm>
          <a:prstGeom prst="roundRect">
            <a:avLst/>
          </a:prstGeom>
          <a:solidFill>
            <a:srgbClr val="22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ADE80"/>
                </a:solidFill>
                <a:latin typeface="Microsoft YaHei"/>
              </a:rPr>
              <a:t>已可用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03 结构轻量化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最适合的小型设备对象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✓ 镜腿骨架、铰链支架、扬声器支架、电池托架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✓ 耳机壳体内部筋位、受力连接件、柔性连接区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482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✓ 换能器隔振件、局部晶格/蜂窝结构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4086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✓ 跌落、夹持、扭转和疲劳载荷下的轻量化结构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推荐方法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1. 冻结必须保留的接口和禁入空间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2. 输入材料、载荷、位移、安全系数、重量目标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85615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3. 加入注塑拔模、最小壁厚、分型面、CNC 刀具方向或 3D 打印方向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782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4. 自动产生多组结构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708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5. 用全精度 FEA 复核，并由工程师整理为可制造几何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54864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Altair Inspire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几何、快速仿真、拓扑/生成式优化、制造过程约束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适合镜腿骨架、支架、内部筋位和隔振骨架概念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G2: 4.3/5 (76条) | 界面直观、早期验证快；复杂边界条件深度有限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4864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Autodesk Fusion Generative Design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保留区/障碍区/载荷/材料/制造约束下产生并排序多方案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适合小型支架和骨架；与 Fusion CAD/CAM 联动成本低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结果需人工重构；云计算/许可成本需评估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54864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PTC Creo Generative Design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功能目标、材料、载荷、约束和制造过程驱动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适合已有 Creo 数据、规范和 PLM 的企业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与参数化 CAD 和企业流程统一；学习/部署成本高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47120" cy="822960"/>
          </a:xfrm>
          <a:prstGeom prst="roundRect">
            <a:avLst/>
          </a:prstGeom>
          <a:solidFill>
            <a:srgbClr val="55451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1F5F9"/>
                </a:solidFill>
                <a:latin typeface="Microsoft YaHei"/>
              </a:rPr>
              <a:t>专用门禁：必须同时验证跌落、镜腿开合、扭转、螺钉/卡扣局部应力、疲劳和装配公差。拓扑结果若无法注塑/冲压/CNC，应记录「人工可制造重构时间」。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274320"/>
            <a:ext cx="2103120" cy="320040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Microsoft YaHei"/>
              </a:rPr>
              <a:t>可试点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04 声学设计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可建立的设计变量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46888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声腔体积/形状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463040"/>
            <a:ext cx="246888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音孔数量/面积/方向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55648"/>
            <a:ext cx="246888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导声管长度/弯曲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755648"/>
            <a:ext cx="246888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换能器位置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48256"/>
            <a:ext cx="246888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壳体材料/阻尼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048256"/>
            <a:ext cx="246888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密封/柔性区域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40864"/>
            <a:ext cx="246888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骨传导接触位置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340864"/>
            <a:ext cx="246888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耦合件/隔振路径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可优化的目标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2468880" cy="25603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A5FA"/>
                </a:solidFill>
                <a:latin typeface="Microsoft YaHei"/>
              </a:rPr>
              <a:t>耳旁频响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108960"/>
            <a:ext cx="2468880" cy="25603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A5FA"/>
                </a:solidFill>
                <a:latin typeface="Microsoft YaHei"/>
              </a:rPr>
              <a:t>漏音控制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01568"/>
            <a:ext cx="2468880" cy="25603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A5FA"/>
                </a:solidFill>
                <a:latin typeface="Microsoft YaHei"/>
              </a:rPr>
              <a:t>声压均匀度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3401568"/>
            <a:ext cx="2468880" cy="25603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A5FA"/>
                </a:solidFill>
                <a:latin typeface="Microsoft YaHei"/>
              </a:rPr>
              <a:t>结构声辐射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94176"/>
            <a:ext cx="2468880" cy="25603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A5FA"/>
                </a:solidFill>
                <a:latin typeface="Microsoft YaHei"/>
              </a:rPr>
              <a:t>左右串扰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3694176"/>
            <a:ext cx="2468880" cy="25603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A5FA"/>
                </a:solidFill>
                <a:latin typeface="Microsoft YaHei"/>
              </a:rPr>
              <a:t>功耗/失真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86783"/>
            <a:ext cx="2468880" cy="25603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A5FA"/>
                </a:solidFill>
                <a:latin typeface="Microsoft YaHei"/>
              </a:rPr>
              <a:t>佩戴舒适度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3986783"/>
            <a:ext cx="2468880" cy="25603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A5FA"/>
                </a:solidFill>
                <a:latin typeface="Microsoft YaHei"/>
              </a:rPr>
              <a:t>重量/温升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AI 的正确用法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463040"/>
            <a:ext cx="5486400" cy="548640"/>
          </a:xfrm>
          <a:prstGeom prst="roundRect">
            <a:avLst/>
          </a:prstGeom>
          <a:solidFill>
            <a:srgbClr val="1A3555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Microsoft YaHei"/>
              </a:rPr>
              <a:t>FEM/BEM+实测 → 训练代理模型 → 优化器快速评估 → 最优/不确定方案返回高精度求解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94560"/>
            <a:ext cx="54864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COMSOL Multiphysics 6.3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压力声学、结构、优化；6.3 增加 DNN 代理训练和 GPU 支持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建立耳机/眼镜专用高精度模型和代理训练数据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G2: 4.3/5 (36条) | 多物理耦合强；复杂模型耗 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83280"/>
            <a:ext cx="54864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Ansys optiSLang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DOE、MOP/代理、优化、稳健设计，可扩展自定义 surrogate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适合已有 Ansys 声学/Mechanical 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11247120" cy="822960"/>
          </a:xfrm>
          <a:prstGeom prst="roundRect">
            <a:avLst/>
          </a:prstGeom>
          <a:solidFill>
            <a:srgbClr val="55451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1F5F9"/>
                </a:solidFill>
                <a:latin typeface="Microsoft YaHei"/>
              </a:rPr>
              <a:t>关键边界：代理模型只负责筛选；共振峰、极端佩戴和低置信度方案必须返回全精度求解和样机。未发现「输入目标频响直接输出可制造声腔」的成熟通用产品。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274320"/>
            <a:ext cx="2103120" cy="320040"/>
          </a:xfrm>
          <a:prstGeom prst="roundRect">
            <a:avLst/>
          </a:prstGeom>
          <a:solidFill>
            <a:srgbClr val="22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ADE80"/>
                </a:solidFill>
                <a:latin typeface="Microsoft YaHei"/>
              </a:rPr>
              <a:t>已有商用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05 多物理场验证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技术概念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54864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标量代理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由设计变量预测最大应力、温升、第一模态等少量指标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03520" cy="54864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全场代理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从 CAD/网格直接预测三维应力、温度、速度或压力场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303520" cy="54864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几何深度学习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在拓扑变化下学习几何与物理结果关系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79"/>
            <a:ext cx="5303520" cy="54864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置信度/域外判断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识别新几何是否远离训练分布，决定是否补样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适用前提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✕ 已有稳定、可追溯的仿真模板和边界条件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646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✕ 训练/验证/测试按「几何族」拆分，不能随机拆分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5721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✕ 报告平均误差、95%误差、最坏误差、热点位置误差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98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✕ Confidence 只作为域外风险信号，不得解读为准确率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Ansys SimAI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几何+仿真结果训练，秒级预测连续 3D 场；每次预测给 confidence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适合跌落代理、镜腿应力、温升、模态/流场筛选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⚠️ 必须用独立测试集验证；厂商 10–100× 加速属宣称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39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Altair PhysicsAI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几何深度学习，不必预先显式定义所有设计变量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适合形状变化明显的镜腿/壳体/支架族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需核查节点映射、不同网格和域外几何表现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Simcenter HEEDS AI Predictor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精度感知 AI 代理与 SHERPA 混合自适应搜索；敏感性与 Pareto 分析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适合结构+热+声学多目标自动流程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G2: 4.4/5 (77条) | 跨工具集成强；复杂流程设置成本高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274320"/>
            <a:ext cx="2103120" cy="320040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Microsoft YaHei"/>
              </a:rPr>
              <a:t>试点中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06 人体工学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技术概念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64008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参数化定制眼镜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基于个人 3D 头脸扫描建立参数化定制方法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303520" cy="64008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3D 耳部人体测量与舒适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将 3D 耳部人体测量与佩戴舒适/贴合感知联系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5303520" cy="64008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外耳形状聚类/代表头模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建立耳形或头脸代表族，减少「只用平均人头」的风险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303520" cy="1280160"/>
          </a:xfrm>
          <a:prstGeom prst="roundRect">
            <a:avLst/>
          </a:prstGeom>
          <a:solidFill>
            <a:srgbClr val="1A3555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1F5F9"/>
                </a:solidFill>
                <a:latin typeface="Microsoft YaHei"/>
              </a:rPr>
              <a:t>项目建议：先建立 30–50 个头耳扫描的工程数据试点，不直接训练「舒适度 AI」。先输出几何分群、接触位置、目标行程和尺寸族；再结合压力膜/力传感、8h 保持、运动与主观量表建立舒适模型。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3DLOOK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手机照片生成身体尺寸、远程尺寸采集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可参考远程人体数据管线，但不应直接用于耳廓/鼻梁精密贴合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G2: 4.5/5 (12条) | 多为服装场景；头耳专用产品仍稀缺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77439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Tecnomatix Process Simulate Human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虚拟人群、任务仿真、人体工学分析、动作捕捉/VR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适合视野、头部动作、装配/使用任务；局部耳部接触需自建精细模型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企业数字制造集成强；实施重、专业建模要求高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头耳专用扫描+参数化 CAD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高精度扫描仪/摄影测量 + Rhino/Grasshopper/CAD 脚本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建立耳廓、鼻梁、颞侧和耳后几何，生成尺寸族和定制结构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扫描后仍需点云清理和关键尺寸人工补测；耳后遮挡、头发是常见失败源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274320"/>
            <a:ext cx="2103120" cy="320040"/>
          </a:xfrm>
          <a:prstGeom prst="roundRect">
            <a:avLst/>
          </a:prstGeom>
          <a:solidFill>
            <a:srgbClr val="22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ADE80"/>
                </a:solidFill>
                <a:latin typeface="Microsoft YaHei"/>
              </a:rPr>
              <a:t>已可用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07 DFM / DFA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专用检查项（耳机/眼镜）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Microsoft YaHei"/>
              </a:rPr>
              <a:t>注塑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最小壁厚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73736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局部厚薄突变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79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拔模角度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11679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倒扣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熔接线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28600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气穴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翘曲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56032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外观面公差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Microsoft YaHei"/>
              </a:rPr>
              <a:t>装配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螺钉柱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301752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卡扣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39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胶路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291839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柔性件预压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线缆弯折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566160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换能器密封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79"/>
            <a:ext cx="246888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维修可达性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5303520" cy="731520"/>
          </a:xfrm>
          <a:prstGeom prst="roundRect">
            <a:avLst/>
          </a:prstGeom>
          <a:solidFill>
            <a:srgbClr val="55451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1F5F9"/>
                </a:solidFill>
                <a:latin typeface="Microsoft YaHei"/>
              </a:rPr>
              <a:t>声学保护：自动修复壁厚、筋位和音孔后必须重新跑频响、漏音、模态和结构声；不能把 DFM 修复当成最终设计。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097280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aPriori Manufacturing Insights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对 CAD 建立制造过程数字孪生，自动成本/碳/工艺评估，按阈值提示 DFM 风险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设计阶段成本、碳排、制造过程和 DFM 风险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G2: 4.5/5 (106条) | 快速成本洞察；大数据模型速度待优化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377439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Fusion Design Advice + Injection Molding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CAD 内规则建议 + 注塑物理仿真（充填/熔接/气穴/缩痕/翘曲）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塑胶件壁厚、拔模、倒扣等早期检查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主要是规则和物理仿真，不应全部称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657600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DFMPro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自动发现制造风险，生成 DFM 报告，可配置企业规则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SolidWorks/Creo 等 CAD 中的注塑、机加工、钣金、铸造规则检查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规则/知识库为主，AI 属性有限；需企业 SOP 共同维护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274320"/>
            <a:ext cx="2103120" cy="320040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Microsoft YaHei"/>
              </a:rPr>
              <a:t>高价值试点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08 试验闭环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技术概念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59436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主动学习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根据不确定性/信息增益选择下一组最有价值的试验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303520" cy="59436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贝叶斯优化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用概率代理在少量昂贵试验下优化黑盒目标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303520" cy="59436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多保真优化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联合解析、简化 2D、3D FEM/BEM 和实测，不同成本数据共同更新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5303520" cy="59436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5F9"/>
                </a:solidFill>
                <a:latin typeface="Microsoft YaHei"/>
              </a:rPr>
              <a:t>异常检测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识别传感器漂移、接触异常、测试失败和离群值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Monolith AI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无代码/低代码工程 ML、Test Plan Optimisation、Next Test Recommender、异常检测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可用于声学、跌落、温升、接触与耐久数据的下一试验推荐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厂商汽车/电池案例多；主动学习可能比随机采样更差，需保留 human-in-the-loop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77439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Simcenter HEEDS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SHERPA、AI Simulation Predictor、历史数据复用、敏感性、稳健性与 Pareto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把 CAD、COMSOL/Ansys、Python 和测试数据库串成闭环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G2: 4.4/5 (77条) | 自动化和跨工具集成强；复杂工作流调试成本高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4864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Ansys optiSLang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DOE、敏感性、代理模型、稳健性、参数标定和多目标优化</a:t>
            </a:r>
          </a:p>
          <a:p>
            <a:r>
              <a:rPr sz="1000">
                <a:solidFill>
                  <a:srgbClr val="F1F5F9"/>
                </a:solidFill>
                <a:latin typeface="Microsoft YaHei"/>
              </a:rPr>
              <a:t>适合 Ansys 用户把仿真和少量实测接起来</a:t>
            </a:r>
          </a:p>
          <a:p>
            <a:r>
              <a:rPr sz="900">
                <a:solidFill>
                  <a:srgbClr val="64748B"/>
                </a:solidFill>
                <a:latin typeface="Microsoft YaHei"/>
              </a:rPr>
              <a:t>独立评论样本极少；需通过内部 PoC 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推荐落地路径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576072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1. 产品需求与人体数据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00200"/>
            <a:ext cx="5760720" cy="43891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2. AI 生成外形概念族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→ 人工筛选品牌与佩戴方向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103120"/>
            <a:ext cx="576072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3. 参数化工程 CAD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包络、接口、铰链、声腔、音孔、材料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606040"/>
            <a:ext cx="576072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4. 自动生成 DOE 样本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108960"/>
            <a:ext cx="576072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5. 高精度结构/热/声学仿真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611880"/>
            <a:ext cx="5760720" cy="43891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6. 训练 AI 代理模型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输出置信度，低置信度返回全精度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114800"/>
            <a:ext cx="5760720" cy="43891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7. 多目标优化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声学 + 强度 + 重量 + 舒适度 + 制造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617720"/>
            <a:ext cx="576072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8. 选择 Pareto 候选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而非只选单一最优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120640"/>
            <a:ext cx="576072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9. 快速样机与测试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HATS / 结构 / 佩戴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623560"/>
            <a:ext cx="5760720" cy="438912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10. 实测回填模型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→ 下一轮主动学习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90 天试点计划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阶段 A    2 周</a:t>
            </a:r>
          </a:p>
          <a:p>
            <a:r>
              <a:rPr sz="1300" b="1">
                <a:solidFill>
                  <a:srgbClr val="F1F5F9"/>
                </a:solidFill>
                <a:latin typeface="Microsoft YaHei"/>
              </a:rPr>
              <a:t>建立参数化基线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选一个镜腿或开放式耳机模块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冻结器件包络、接口、禁入区和制造规则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选 10–20 个变量：声腔、音孔、换能器位置、壁厚、筋位、材料等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冻结评价指标和基准方案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669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阶段 B    3–4 周</a:t>
            </a:r>
          </a:p>
          <a:p>
            <a:r>
              <a:rPr sz="1300" b="1">
                <a:solidFill>
                  <a:srgbClr val="F1F5F9"/>
                </a:solidFill>
                <a:latin typeface="Microsoft YaHei"/>
              </a:rPr>
              <a:t>生成首批数据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约 50–100 个代表性方案作为试点起始预算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运行结构、模态、热和声学仿真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制作少量样机，校准材料、边界条件和声学路径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清理失败样本和不可制造方案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5669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阶段 C    3 周</a:t>
            </a:r>
          </a:p>
          <a:p>
            <a:r>
              <a:rPr sz="1300" b="1">
                <a:solidFill>
                  <a:srgbClr val="F1F5F9"/>
                </a:solidFill>
                <a:latin typeface="Microsoft YaHei"/>
              </a:rPr>
              <a:t>训练代理模型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分别训练声学、结构/模态、温升代理模型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做独立测试集和误差分布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根据独立测试误差、最坏误差、几何距离和置信度决定是否补样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不只看平均误差，检查峰值、极端佩戴和几何外推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657600"/>
            <a:ext cx="5669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Microsoft YaHei"/>
              </a:rPr>
              <a:t>阶段 D    3 周</a:t>
            </a:r>
          </a:p>
          <a:p>
            <a:r>
              <a:rPr sz="1300" b="1">
                <a:solidFill>
                  <a:srgbClr val="F1F5F9"/>
                </a:solidFill>
                <a:latin typeface="Microsoft YaHei"/>
              </a:rPr>
              <a:t>多目标优化和样机闭环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生成 Pareto 候选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选择 3–5 个差异明显的方案打样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HATS 漏音/频响、跌落/扭转、接触压力、温升和主观佩戴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• 比较传统流程与 AI 流程的仿真次数、人工小时、样机轮次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产品选型建议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Microsoft YaHei"/>
              </a:rPr>
              <a:t>方案一：小团队 / 已有 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外形  →  Vizcom 或 Firefly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4 周试点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124712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CAD / 结构 / DFM  →  Fusion 现有能力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参数化 + Generative Design + Design Advice + Injection Molding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1124712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声学 / 多物理  →  现有求解器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Python / optiSLang 或轻量代理做窄问题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124712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1F5F9"/>
                </a:solidFill>
                <a:latin typeface="Microsoft YaHei"/>
              </a:rPr>
              <a:t>试验闭环  →  Python + 可追溯数据库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先验证价值，再评估 Monolith / HEEDS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Microsoft YaHei"/>
              </a:rPr>
              <a:t>方案二：已有 Ansys / Altair / Siemens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• Ansys 路线: Mechanical / Acoustics / Fluent + optiSLang → 已有大规模仿真数据后评估 SimAI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• Altair 路线: Inspire + HyperWorks / PhysicsAI → 早期结构 + 全场代理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• Siemens 路线: NX / Simcenter + HEEDS → 统一自动化、多目标和 AI Predictor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专利态势与候选布局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已有较强专利压力的领域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✕ 通用的代理模型优化、可行性筛选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✕ 自适应设计空间、伴随逆设计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✕ 仿真合成数据训练运行期声场模型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303520" cy="731520"/>
          </a:xfrm>
          <a:prstGeom prst="roundRect">
            <a:avLst/>
          </a:prstGeom>
          <a:solidFill>
            <a:srgbClr val="1A3555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1F5F9"/>
                </a:solidFill>
                <a:latin typeface="Microsoft YaHei"/>
              </a:rPr>
              <a:t>注意：仅写「用 AI 优化声腔」或「用机器学习减少仿真次数」，保护范围不稳定。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5 个候选差异化方向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1. 多保真主动学习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由不确定性决定下一次采用简化模型、三维 FEM/BEM 还是样机测量，并设定预算和停止门槛。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4864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2. 佩戴鲁棒的旁观者泄漏逆向设计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在多头型、佩戴偏移和制造公差下，同时保证耳旁响应并限制外部多位置泄漏。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4864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3. 实测校准的结构—声数字孪生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用电阻抗、声压、加速度和外泄场识别密封、网布、胶层与阻尼误差，再生成下一版硬件。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4864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4. 声学+DFM 联合生成修复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生成几何后自动检查壁厚、拔模、模具方向、装配间隙与胶路，修复后重新做声学/结构计算。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80"/>
            <a:ext cx="54864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0A5FA"/>
                </a:solidFill>
                <a:latin typeface="Microsoft YaHei"/>
              </a:rPr>
              <a:t>5. 可解释因果与自动试验计划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不仅输出候选几何，还说明哪些参数影响驻波、漏音和模态，并自动选择最少样机与测点验证。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关键风险与边界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04060"/>
                </a:solidFill>
                <a:latin typeface="Microsoft YaHei"/>
              </a:rPr>
              <a:t>01</a:t>
            </a:r>
          </a:p>
          <a:p>
            <a:r>
              <a:rPr sz="1200" b="1">
                <a:solidFill>
                  <a:srgbClr val="F1F5F9"/>
                </a:solidFill>
                <a:latin typeface="Microsoft YaHei"/>
              </a:rPr>
              <a:t>数据不足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代理模型只在训练数据覆盖范围内可靠，不能把漂亮的拟合曲线当物理正确。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97280"/>
            <a:ext cx="3657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04060"/>
                </a:solidFill>
                <a:latin typeface="Microsoft YaHei"/>
              </a:rPr>
              <a:t>02</a:t>
            </a:r>
          </a:p>
          <a:p>
            <a:r>
              <a:rPr sz="1200" b="1">
                <a:solidFill>
                  <a:srgbClr val="F1F5F9"/>
                </a:solidFill>
                <a:latin typeface="Microsoft YaHei"/>
              </a:rPr>
              <a:t>仿真偏差会被 AI 复制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材料、接触、阻尼、边界条件不准，AI 只会更快地产生错误答案。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97280"/>
            <a:ext cx="3657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04060"/>
                </a:solidFill>
                <a:latin typeface="Microsoft YaHei"/>
              </a:rPr>
              <a:t>03</a:t>
            </a:r>
          </a:p>
          <a:p>
            <a:r>
              <a:rPr sz="1200" b="1">
                <a:solidFill>
                  <a:srgbClr val="F1F5F9"/>
                </a:solidFill>
                <a:latin typeface="Microsoft YaHei"/>
              </a:rPr>
              <a:t>多目标不存在唯一最优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声音、重量、强度、功耗、舒适度和成本互相冲突，应保留 Pareto 方案给人决策。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657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04060"/>
                </a:solidFill>
                <a:latin typeface="Microsoft YaHei"/>
              </a:rPr>
              <a:t>04</a:t>
            </a:r>
          </a:p>
          <a:p>
            <a:r>
              <a:rPr sz="1200" b="1">
                <a:solidFill>
                  <a:srgbClr val="F1F5F9"/>
                </a:solidFill>
                <a:latin typeface="Microsoft YaHei"/>
              </a:rPr>
              <a:t>生成外形 ≠ 工程设计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概念图和网格模型不自动满足 CAD 历史、装配、公差和制造要求。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743200"/>
            <a:ext cx="3657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04060"/>
                </a:solidFill>
                <a:latin typeface="Microsoft YaHei"/>
              </a:rPr>
              <a:t>05</a:t>
            </a:r>
          </a:p>
          <a:p>
            <a:r>
              <a:rPr sz="1200" b="1">
                <a:solidFill>
                  <a:srgbClr val="F1F5F9"/>
                </a:solidFill>
                <a:latin typeface="Microsoft YaHei"/>
              </a:rPr>
              <a:t>最终验证不能省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跌落、疲劳、皮肤接触、声剂量、热安全和真实佩戴仍需实物测试。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743200"/>
            <a:ext cx="3657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04060"/>
                </a:solidFill>
                <a:latin typeface="Microsoft YaHei"/>
              </a:rPr>
              <a:t>06</a:t>
            </a:r>
          </a:p>
          <a:p>
            <a:r>
              <a:rPr sz="1200" b="1">
                <a:solidFill>
                  <a:srgbClr val="F1F5F9"/>
                </a:solidFill>
                <a:latin typeface="Microsoft YaHei"/>
              </a:rPr>
              <a:t>知识产权与数据保密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上传未公开 CAD、声学模型和测试数据到云端 AI 前，确认数据保留、训练使用、地域和访问权限。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3657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04060"/>
                </a:solidFill>
                <a:latin typeface="Microsoft YaHei"/>
              </a:rPr>
              <a:t>07</a:t>
            </a:r>
          </a:p>
          <a:p>
            <a:r>
              <a:rPr sz="1200" b="1">
                <a:solidFill>
                  <a:srgbClr val="F1F5F9"/>
                </a:solidFill>
                <a:latin typeface="Microsoft YaHei"/>
              </a:rPr>
              <a:t>不要把传统优化全部称为 AI</a:t>
            </a:r>
          </a:p>
          <a:p>
            <a:r>
              <a:rPr sz="1000">
                <a:solidFill>
                  <a:srgbClr val="94A3B8"/>
                </a:solidFill>
                <a:latin typeface="Microsoft YaHei"/>
              </a:rPr>
              <a:t>参数扫描、DOE、遗传算法和拓扑优化可以不用机器学习。只有明确学习历史数据、构建代理模型、自适应决定下一次试验时，才属于 AI 增强。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1F5F9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Microsoft YaHei"/>
              </a:rPr>
              <a:t>八个环节都已经存在论文概念或商用品，但成熟度不同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03920" cy="640080"/>
          </a:xfrm>
          <a:prstGeom prst="roundRect">
            <a:avLst/>
          </a:prstGeom>
          <a:solidFill>
            <a:srgbClr val="22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ADE80"/>
                </a:solidFill>
                <a:latin typeface="Microsoft YaHei"/>
              </a:rPr>
              <a:t>现在即可用: 外形概念、结构拓扑/生成式设计、参数化 CAD、规则型 DFM、多求解器自动化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834640"/>
            <a:ext cx="8503920" cy="640080"/>
          </a:xfrm>
          <a:prstGeom prst="roundRect">
            <a:avLst/>
          </a:prstGeom>
          <a:solidFill>
            <a:srgbClr val="55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BBF24"/>
                </a:solidFill>
                <a:latin typeface="Microsoft YaHei"/>
              </a:rPr>
              <a:t>适合 90 天试点: 声学代理、AI 全场预测、人体扫描尺寸族、主动学习试验闭环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657600"/>
            <a:ext cx="8503920" cy="640080"/>
          </a:xfrm>
          <a:prstGeom prst="roundRect">
            <a:avLst/>
          </a:prstGeom>
          <a:solidFill>
            <a:srgbClr val="30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4A3B8"/>
                </a:solidFill>
                <a:latin typeface="Microsoft YaHei"/>
              </a:rPr>
              <a:t>尚不宜承诺量产自动化: 文本直接生成复杂整机 CAD、端到端生成可制造声腔、仅靠扫描/AI 预测长期舒适度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10332720" cy="1645920"/>
          </a:xfrm>
          <a:prstGeom prst="roundRect">
            <a:avLst/>
          </a:prstGeom>
          <a:solidFill>
            <a:srgbClr val="1A3555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94A3B8"/>
                </a:solidFill>
                <a:latin typeface="Microsoft YaHei"/>
              </a:rPr>
              <a:t>最有价值的组合仍是：</a:t>
            </a:r>
          </a:p>
          <a:p>
            <a:r>
              <a:rPr sz="1400" b="1">
                <a:solidFill>
                  <a:srgbClr val="F1F5F9"/>
                </a:solidFill>
                <a:latin typeface="Microsoft YaHei"/>
              </a:rPr>
              <a:t>参数化 CAD + 自动 FEM/BEM/FEA + 代理模型 + 多目标优化 + 3–5 个差异化样机 + 实测回填</a:t>
            </a:r>
          </a:p>
          <a:p>
            <a:r>
              <a:rPr sz="1200">
                <a:solidFill>
                  <a:srgbClr val="94A3B8"/>
                </a:solidFill>
                <a:latin typeface="Microsoft YaHei"/>
              </a:rPr>
              <a:t>外形生成工具用于扩展方向，AI-CAE 用于减少昂贵求解，试验闭环用于选择下一组最有信息量的数据；</a:t>
            </a:r>
          </a:p>
          <a:p>
            <a:r>
              <a:rPr sz="1300" b="1">
                <a:solidFill>
                  <a:srgbClr val="F1F5F9"/>
                </a:solidFill>
                <a:latin typeface="Microsoft YaHei"/>
              </a:rPr>
              <a:t>最终工程判断、人体安全、声学验收和制造放行仍由专业人员承担。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